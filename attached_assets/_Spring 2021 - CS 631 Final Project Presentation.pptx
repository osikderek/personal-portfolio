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Lato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LatoLight-bold.fntdata"/><Relationship Id="rId27" Type="http://schemas.openxmlformats.org/officeDocument/2006/relationships/font" Target="fonts/LatoLight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Ligh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LatoLight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cc48f20e94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cc48f20e94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cc50588a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cc50588a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d16c46984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d16c46984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d9a5a8e8e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d9a5a8e8e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to call out valid means in the maze and a valid position (0)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504f61c4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504f61c4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d504f61c4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d504f61c4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d3db122ec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d3db122ec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d16c46984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d16c46984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d82476c8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d82476c8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d82476c8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d82476c8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d71855492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d71855492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d3db122e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d3db122e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88500" y="1578400"/>
            <a:ext cx="59226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6D9EEB"/>
                </a:solidFill>
              </a:rPr>
              <a:t>CS 631 Final Presentation</a:t>
            </a:r>
            <a:endParaRPr sz="3600">
              <a:solidFill>
                <a:srgbClr val="6D9EEB"/>
              </a:solidFill>
            </a:endParaRPr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626750" y="2629525"/>
            <a:ext cx="3470700" cy="9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The Maze Project 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May 10</a:t>
            </a:r>
            <a:r>
              <a:rPr lang="en" sz="1400">
                <a:latin typeface="Lato Light"/>
                <a:ea typeface="Lato Light"/>
                <a:cs typeface="Lato Light"/>
                <a:sym typeface="Lato Light"/>
              </a:rPr>
              <a:t>, 2021 </a:t>
            </a:r>
            <a:endParaRPr sz="1400">
              <a:latin typeface="Lato Light"/>
              <a:ea typeface="Lato Light"/>
              <a:cs typeface="Lato Light"/>
              <a:sym typeface="Lato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366650" y="380825"/>
            <a:ext cx="4587000" cy="286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rgbClr val="6D9EEB"/>
                </a:solidFill>
              </a:rPr>
              <a:t>Project Team</a:t>
            </a:r>
            <a:endParaRPr sz="3600">
              <a:solidFill>
                <a:srgbClr val="6D9EEB"/>
              </a:solidFill>
            </a:endParaRPr>
          </a:p>
        </p:txBody>
      </p:sp>
      <p:sp>
        <p:nvSpPr>
          <p:cNvPr id="141" name="Google Shape;141;p14"/>
          <p:cNvSpPr txBox="1"/>
          <p:nvPr>
            <p:ph idx="4294967295" type="body"/>
          </p:nvPr>
        </p:nvSpPr>
        <p:spPr>
          <a:xfrm>
            <a:off x="-43575" y="2261725"/>
            <a:ext cx="5135700" cy="17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Derek Osik</a:t>
            </a:r>
            <a:endParaRPr sz="23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George Varghese</a:t>
            </a:r>
            <a:endParaRPr sz="23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6D9EEB"/>
                </a:solidFill>
              </a:rPr>
              <a:t>Maze Challenge</a:t>
            </a:r>
            <a:endParaRPr sz="3000">
              <a:solidFill>
                <a:srgbClr val="6D9EEB"/>
              </a:solidFill>
            </a:endParaRPr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4300" y="2117250"/>
            <a:ext cx="4060601" cy="2812774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8" name="Google Shape;148;p15"/>
          <p:cNvSpPr txBox="1"/>
          <p:nvPr/>
        </p:nvSpPr>
        <p:spPr>
          <a:xfrm>
            <a:off x="0" y="1524000"/>
            <a:ext cx="8120700" cy="15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Propose an algorithm that traverses a predefined maze and prints out a path from the Starting Point (S) to Exit (E)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Lato"/>
              <a:buChar char="●"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Use Stack to track Solutions </a:t>
            </a:r>
            <a:b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</a:b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Path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5"/>
                </a:solidFill>
              </a:rPr>
              <a:t>Initialization </a:t>
            </a:r>
            <a:r>
              <a:rPr lang="en" sz="3000">
                <a:solidFill>
                  <a:schemeClr val="accent5"/>
                </a:solidFill>
              </a:rPr>
              <a:t>Inputs</a:t>
            </a:r>
            <a:endParaRPr sz="3000">
              <a:solidFill>
                <a:schemeClr val="accent5"/>
              </a:solidFill>
            </a:endParaRPr>
          </a:p>
        </p:txBody>
      </p:sp>
      <p:sp>
        <p:nvSpPr>
          <p:cNvPr id="154" name="Google Shape;154;p16"/>
          <p:cNvSpPr txBox="1"/>
          <p:nvPr>
            <p:ph idx="1" type="body"/>
          </p:nvPr>
        </p:nvSpPr>
        <p:spPr>
          <a:xfrm>
            <a:off x="1297500" y="1307850"/>
            <a:ext cx="67374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Starting Position, Ending Position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Maze size for an 8 by 8 maze, N = 8</a:t>
            </a:r>
            <a:endParaRPr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Maze Matrix is represented as arrays of 1’s and 0’s,  where 0’s are valid positions and 1’s are invalid, Out-of-Matrix is invalid)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5" name="Google Shape;15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8650" y="2912300"/>
            <a:ext cx="3316300" cy="206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5"/>
                </a:solidFill>
              </a:rPr>
              <a:t>Algorithm (Initial Steps)</a:t>
            </a:r>
            <a:endParaRPr sz="3000">
              <a:solidFill>
                <a:schemeClr val="accent5"/>
              </a:solidFill>
            </a:endParaRPr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225" y="1224550"/>
            <a:ext cx="2255275" cy="3682375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6675" y="1566800"/>
            <a:ext cx="4060601" cy="2812774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idx="1" type="body"/>
          </p:nvPr>
        </p:nvSpPr>
        <p:spPr>
          <a:xfrm>
            <a:off x="812725" y="4305375"/>
            <a:ext cx="29619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5"/>
                </a:solidFill>
              </a:rPr>
              <a:t>Recursion Flowchart </a:t>
            </a:r>
            <a:endParaRPr sz="1900">
              <a:solidFill>
                <a:schemeClr val="accent5"/>
              </a:solidFill>
            </a:endParaRPr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600" y="869976"/>
            <a:ext cx="3856525" cy="2671400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9" name="Google Shape;169;p18"/>
          <p:cNvSpPr/>
          <p:nvPr/>
        </p:nvSpPr>
        <p:spPr>
          <a:xfrm>
            <a:off x="1067903" y="1412535"/>
            <a:ext cx="187800" cy="193800"/>
          </a:xfrm>
          <a:prstGeom prst="smileyFace">
            <a:avLst>
              <a:gd fmla="val 4653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" name="Google Shape;170;p18"/>
          <p:cNvCxnSpPr/>
          <p:nvPr/>
        </p:nvCxnSpPr>
        <p:spPr>
          <a:xfrm rot="10800000">
            <a:off x="1157020" y="1263412"/>
            <a:ext cx="0" cy="139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1" name="Google Shape;171;p18"/>
          <p:cNvCxnSpPr/>
          <p:nvPr/>
        </p:nvCxnSpPr>
        <p:spPr>
          <a:xfrm rot="10800000">
            <a:off x="1157020" y="1609124"/>
            <a:ext cx="0" cy="1395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72" name="Google Shape;172;p18"/>
          <p:cNvCxnSpPr>
            <a:stCxn id="169" idx="6"/>
          </p:cNvCxnSpPr>
          <p:nvPr/>
        </p:nvCxnSpPr>
        <p:spPr>
          <a:xfrm>
            <a:off x="1255703" y="1509435"/>
            <a:ext cx="175500" cy="0"/>
          </a:xfrm>
          <a:prstGeom prst="straightConnector1">
            <a:avLst/>
          </a:prstGeom>
          <a:noFill/>
          <a:ln cap="flat" cmpd="sng" w="19050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18"/>
          <p:cNvCxnSpPr/>
          <p:nvPr/>
        </p:nvCxnSpPr>
        <p:spPr>
          <a:xfrm>
            <a:off x="911792" y="1509459"/>
            <a:ext cx="139500" cy="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74" name="Google Shape;174;p18"/>
          <p:cNvSpPr txBox="1"/>
          <p:nvPr/>
        </p:nvSpPr>
        <p:spPr>
          <a:xfrm>
            <a:off x="383225" y="3637200"/>
            <a:ext cx="315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Solutions Stack = </a:t>
            </a:r>
            <a:r>
              <a:rPr b="1"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0,0</a:t>
            </a: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 | </a:t>
            </a:r>
            <a:r>
              <a:rPr b="1"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0,1</a:t>
            </a: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 | </a:t>
            </a:r>
            <a:r>
              <a:rPr b="1"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1,1</a:t>
            </a: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 | </a:t>
            </a:r>
            <a:r>
              <a:rPr b="1"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2,1</a:t>
            </a: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000">
              <a:solidFill>
                <a:srgbClr val="CFE2F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936900" y="589887"/>
            <a:ext cx="39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D966"/>
                </a:solidFill>
                <a:latin typeface="Lato"/>
                <a:ea typeface="Lato"/>
                <a:cs typeface="Lato"/>
                <a:sym typeface="Lato"/>
              </a:rPr>
              <a:t>i=2</a:t>
            </a:r>
            <a:endParaRPr b="1" sz="900">
              <a:solidFill>
                <a:srgbClr val="FFD966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6" name="Google Shape;176;p18"/>
          <p:cNvSpPr txBox="1"/>
          <p:nvPr/>
        </p:nvSpPr>
        <p:spPr>
          <a:xfrm>
            <a:off x="-60075" y="1395138"/>
            <a:ext cx="3909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FFD966"/>
                </a:solidFill>
                <a:latin typeface="Lato"/>
                <a:ea typeface="Lato"/>
                <a:cs typeface="Lato"/>
                <a:sym typeface="Lato"/>
              </a:rPr>
              <a:t>j </a:t>
            </a:r>
            <a:r>
              <a:rPr b="1" lang="en" sz="900">
                <a:solidFill>
                  <a:srgbClr val="FFD966"/>
                </a:solidFill>
                <a:latin typeface="Lato"/>
                <a:ea typeface="Lato"/>
                <a:cs typeface="Lato"/>
                <a:sym typeface="Lato"/>
              </a:rPr>
              <a:t>=1</a:t>
            </a:r>
            <a:endParaRPr b="1" sz="900">
              <a:solidFill>
                <a:srgbClr val="FFD96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7" name="Google Shape;17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5525" y="152400"/>
            <a:ext cx="4651841" cy="4838702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p18"/>
          <p:cNvSpPr txBox="1"/>
          <p:nvPr/>
        </p:nvSpPr>
        <p:spPr>
          <a:xfrm>
            <a:off x="4615500" y="3381150"/>
            <a:ext cx="197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Lato"/>
                <a:ea typeface="Lato"/>
                <a:cs typeface="Lato"/>
                <a:sym typeface="Lato"/>
              </a:rPr>
              <a:t>Solve Maze Function</a:t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5"/>
                </a:solidFill>
              </a:rPr>
              <a:t>Illustration of Backtracking</a:t>
            </a:r>
            <a:endParaRPr sz="2800">
              <a:solidFill>
                <a:schemeClr val="accent5"/>
              </a:solidFill>
            </a:endParaRPr>
          </a:p>
        </p:txBody>
      </p:sp>
      <p:pic>
        <p:nvPicPr>
          <p:cNvPr id="184" name="Google Shape;1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625" y="1567550"/>
            <a:ext cx="4060598" cy="2812774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5" name="Google Shape;185;p19"/>
          <p:cNvSpPr/>
          <p:nvPr/>
        </p:nvSpPr>
        <p:spPr>
          <a:xfrm>
            <a:off x="1970350" y="3730750"/>
            <a:ext cx="225900" cy="233100"/>
          </a:xfrm>
          <a:prstGeom prst="smileyFace">
            <a:avLst>
              <a:gd fmla="val 4653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 rot="-5400000">
            <a:off x="1551400" y="3464425"/>
            <a:ext cx="607500" cy="230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94800" y="1838175"/>
            <a:ext cx="2536799" cy="2119125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8" name="Google Shape;188;p19"/>
          <p:cNvSpPr txBox="1"/>
          <p:nvPr/>
        </p:nvSpPr>
        <p:spPr>
          <a:xfrm>
            <a:off x="853677" y="4503450"/>
            <a:ext cx="2253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Solutions Stack = </a:t>
            </a:r>
            <a:r>
              <a:rPr b="1"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4,5</a:t>
            </a: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 | </a:t>
            </a:r>
            <a:r>
              <a:rPr b="1" lang="en" sz="1000" strike="sngStrike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4,6</a:t>
            </a: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 | </a:t>
            </a:r>
            <a:r>
              <a:rPr b="1" lang="en" sz="1000" strike="sngStrike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4,7</a:t>
            </a: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 | </a:t>
            </a:r>
            <a:r>
              <a:rPr b="1" lang="en" sz="1000" strike="sngStrike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5,7</a:t>
            </a:r>
            <a:r>
              <a:rPr lang="en" sz="1000">
                <a:solidFill>
                  <a:srgbClr val="CFE2F3"/>
                </a:solidFill>
                <a:latin typeface="Lato"/>
                <a:ea typeface="Lato"/>
                <a:cs typeface="Lato"/>
                <a:sym typeface="Lato"/>
              </a:rPr>
              <a:t>  </a:t>
            </a:r>
            <a:endParaRPr sz="1000">
              <a:solidFill>
                <a:srgbClr val="CFE2F3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89" name="Google Shape;189;p19"/>
          <p:cNvCxnSpPr>
            <a:stCxn id="185" idx="6"/>
          </p:cNvCxnSpPr>
          <p:nvPr/>
        </p:nvCxnSpPr>
        <p:spPr>
          <a:xfrm>
            <a:off x="2196250" y="3847300"/>
            <a:ext cx="154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19"/>
          <p:cNvCxnSpPr>
            <a:stCxn id="185" idx="4"/>
          </p:cNvCxnSpPr>
          <p:nvPr/>
        </p:nvCxnSpPr>
        <p:spPr>
          <a:xfrm>
            <a:off x="2083300" y="3963850"/>
            <a:ext cx="0" cy="1605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19"/>
          <p:cNvCxnSpPr>
            <a:stCxn id="185" idx="0"/>
          </p:cNvCxnSpPr>
          <p:nvPr/>
        </p:nvCxnSpPr>
        <p:spPr>
          <a:xfrm rot="10800000">
            <a:off x="2083300" y="3574150"/>
            <a:ext cx="0" cy="156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19"/>
          <p:cNvSpPr/>
          <p:nvPr/>
        </p:nvSpPr>
        <p:spPr>
          <a:xfrm>
            <a:off x="7233425" y="3390225"/>
            <a:ext cx="62700" cy="125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5"/>
                </a:solidFill>
              </a:rPr>
              <a:t>Illustration of Backtracking - Part 2</a:t>
            </a:r>
            <a:endParaRPr sz="2800">
              <a:solidFill>
                <a:schemeClr val="accent5"/>
              </a:solidFill>
            </a:endParaRPr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225" y="1567550"/>
            <a:ext cx="4060598" cy="2812774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3150" y="1567550"/>
            <a:ext cx="4060601" cy="2812774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00" name="Google Shape;200;p20"/>
          <p:cNvSpPr/>
          <p:nvPr/>
        </p:nvSpPr>
        <p:spPr>
          <a:xfrm>
            <a:off x="1817950" y="3730750"/>
            <a:ext cx="225900" cy="233100"/>
          </a:xfrm>
          <a:prstGeom prst="smileyFace">
            <a:avLst>
              <a:gd fmla="val 4653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5937275" y="3201650"/>
            <a:ext cx="225900" cy="233100"/>
          </a:xfrm>
          <a:prstGeom prst="smileyFace">
            <a:avLst>
              <a:gd fmla="val 4653" name="adj"/>
            </a:avLst>
          </a:prstGeom>
          <a:solidFill>
            <a:schemeClr val="accen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0"/>
          <p:cNvSpPr/>
          <p:nvPr/>
        </p:nvSpPr>
        <p:spPr>
          <a:xfrm rot="-5400000">
            <a:off x="1399000" y="3464425"/>
            <a:ext cx="607500" cy="230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6163175" y="3276500"/>
            <a:ext cx="462900" cy="83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1"/>
          <p:cNvSpPr txBox="1"/>
          <p:nvPr>
            <p:ph type="title"/>
          </p:nvPr>
        </p:nvSpPr>
        <p:spPr>
          <a:xfrm>
            <a:off x="1318300" y="3769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5"/>
                </a:solidFill>
              </a:rPr>
              <a:t>Solution </a:t>
            </a:r>
            <a:r>
              <a:rPr lang="en" sz="2800">
                <a:solidFill>
                  <a:schemeClr val="accent5"/>
                </a:solidFill>
              </a:rPr>
              <a:t>Output</a:t>
            </a:r>
            <a:endParaRPr sz="2800">
              <a:solidFill>
                <a:schemeClr val="accent5"/>
              </a:solidFill>
            </a:endParaRPr>
          </a:p>
        </p:txBody>
      </p:sp>
      <p:sp>
        <p:nvSpPr>
          <p:cNvPr id="209" name="Google Shape;209;p21"/>
          <p:cNvSpPr txBox="1"/>
          <p:nvPr>
            <p:ph idx="1" type="body"/>
          </p:nvPr>
        </p:nvSpPr>
        <p:spPr>
          <a:xfrm>
            <a:off x="2517925" y="1338950"/>
            <a:ext cx="2275200" cy="35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/>
              <a:t>Solution Path Stack:</a:t>
            </a:r>
            <a:endParaRPr sz="1600" u="sng"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(0,0)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(0,1)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(1,1)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(2,1)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(3,1)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(4,1)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(4,2)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(4,3)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(4,4)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(4,5)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(5,5)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(6,5)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(7,5)</a:t>
            </a:r>
            <a:r>
              <a:rPr lang="en" sz="1400"/>
              <a:t>,</a:t>
            </a:r>
            <a:endParaRPr sz="14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(7,6),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(7,7)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 u="sng"/>
          </a:p>
        </p:txBody>
      </p:sp>
      <p:sp>
        <p:nvSpPr>
          <p:cNvPr id="210" name="Google Shape;210;p21"/>
          <p:cNvSpPr txBox="1"/>
          <p:nvPr/>
        </p:nvSpPr>
        <p:spPr>
          <a:xfrm>
            <a:off x="4990518" y="1312520"/>
            <a:ext cx="606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OR</a:t>
            </a:r>
            <a:endParaRPr b="1"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5775700" y="1338950"/>
            <a:ext cx="25815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No Solution:</a:t>
            </a:r>
            <a:endParaRPr sz="16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“Solution path does not exist”</a:t>
            </a:r>
            <a:endParaRPr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5850" y="2001800"/>
            <a:ext cx="2748424" cy="1903826"/>
          </a:xfrm>
          <a:prstGeom prst="rect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3" name="Google Shape;213;p21"/>
          <p:cNvCxnSpPr/>
          <p:nvPr/>
        </p:nvCxnSpPr>
        <p:spPr>
          <a:xfrm>
            <a:off x="471800" y="2364625"/>
            <a:ext cx="0" cy="1236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460566" y="2471350"/>
            <a:ext cx="7020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5" name="Google Shape;215;p21"/>
          <p:cNvCxnSpPr/>
          <p:nvPr/>
        </p:nvCxnSpPr>
        <p:spPr>
          <a:xfrm>
            <a:off x="1151433" y="2482591"/>
            <a:ext cx="0" cy="7020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6" name="Google Shape;216;p21"/>
          <p:cNvCxnSpPr/>
          <p:nvPr/>
        </p:nvCxnSpPr>
        <p:spPr>
          <a:xfrm>
            <a:off x="1140183" y="3190300"/>
            <a:ext cx="5562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7" name="Google Shape;217;p21"/>
          <p:cNvCxnSpPr/>
          <p:nvPr/>
        </p:nvCxnSpPr>
        <p:spPr>
          <a:xfrm>
            <a:off x="1685000" y="3195900"/>
            <a:ext cx="11100" cy="33420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5"/>
                </a:solidFill>
              </a:rPr>
              <a:t>Time Complexity of Algorithm</a:t>
            </a:r>
            <a:endParaRPr sz="2800">
              <a:solidFill>
                <a:schemeClr val="accent5"/>
              </a:solidFill>
            </a:endParaRPr>
          </a:p>
        </p:txBody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1271775" y="1307850"/>
            <a:ext cx="7038900" cy="30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Maze Matrix Size = </a:t>
            </a:r>
            <a:r>
              <a:rPr b="1" lang="en" sz="1500"/>
              <a:t>N²</a:t>
            </a:r>
            <a:r>
              <a:rPr b="1" lang="en" sz="1700"/>
              <a:t> </a:t>
            </a:r>
            <a:r>
              <a:rPr lang="en" sz="1500"/>
              <a:t>       [in our case, N=8]</a:t>
            </a:r>
            <a:endParaRPr sz="1500"/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Upper bound for i and j == (N-1)</a:t>
            </a:r>
            <a:endParaRPr sz="1300"/>
          </a:p>
          <a:p>
            <a:pPr indent="-3238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/>
              <a:t>Time Complexity: T(N) = O(4^(M))</a:t>
            </a:r>
            <a:r>
              <a:rPr lang="en"/>
              <a:t> = </a:t>
            </a:r>
            <a:r>
              <a:rPr lang="en"/>
              <a:t>O(4^(2*N))</a:t>
            </a:r>
            <a:endParaRPr/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At every position, there are four possible directions</a:t>
            </a:r>
            <a:endParaRPr/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 = 2*N = max depth of a leaf node in the search tree of the different paths </a:t>
            </a:r>
            <a:endParaRPr sz="1300"/>
          </a:p>
          <a:p>
            <a:pPr indent="-311150" lvl="2" marL="1371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(or max depth of Solutions stack)</a:t>
            </a:r>
            <a:endParaRPr sz="1300"/>
          </a:p>
          <a:p>
            <a:pPr indent="-3111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Space Complexity :</a:t>
            </a:r>
            <a:endParaRPr/>
          </a:p>
          <a:p>
            <a:pPr indent="-31115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SPACE(N) = O(4*M)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3700"/>
              <a:t>Questions? </a:t>
            </a:r>
            <a:endParaRPr sz="37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4"/>
          <p:cNvSpPr txBox="1"/>
          <p:nvPr>
            <p:ph type="title"/>
          </p:nvPr>
        </p:nvSpPr>
        <p:spPr>
          <a:xfrm>
            <a:off x="1297500" y="438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accent5"/>
                </a:solidFill>
              </a:rPr>
              <a:t>Solutions Algorithm</a:t>
            </a:r>
            <a:endParaRPr sz="2800">
              <a:solidFill>
                <a:schemeClr val="accent5"/>
              </a:solidFill>
            </a:endParaRPr>
          </a:p>
        </p:txBody>
      </p:sp>
      <p:sp>
        <p:nvSpPr>
          <p:cNvPr id="234" name="Google Shape;234;p24"/>
          <p:cNvSpPr txBox="1"/>
          <p:nvPr>
            <p:ph idx="1" type="body"/>
          </p:nvPr>
        </p:nvSpPr>
        <p:spPr>
          <a:xfrm>
            <a:off x="1297500" y="1025575"/>
            <a:ext cx="7496100" cy="39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73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0"/>
              <a:buChar char="●"/>
            </a:pPr>
            <a:r>
              <a:rPr lang="en" sz="1010"/>
              <a:t>Initialize Start position, End position, and Maze Matrix</a:t>
            </a:r>
            <a:endParaRPr sz="1010"/>
          </a:p>
          <a:p>
            <a:pPr indent="-29273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0"/>
              <a:buChar char="●"/>
            </a:pPr>
            <a:r>
              <a:rPr lang="en" sz="1010"/>
              <a:t>Check if Start &amp; End are valid positions within the Maze Matrix (0=valid, 1=invalid, Out-of-Matrix = invalid). If False, print  “Invalid Position” and return. If True, goto Next</a:t>
            </a:r>
            <a:endParaRPr sz="1010"/>
          </a:p>
          <a:p>
            <a:pPr indent="-292735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10"/>
              <a:buChar char="●"/>
            </a:pPr>
            <a:r>
              <a:rPr lang="en" sz="1010"/>
              <a:t>Push start position into an empty Solutions Path Stack</a:t>
            </a:r>
            <a:endParaRPr sz="101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010"/>
          </a:p>
          <a:p>
            <a:pPr indent="-292735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10"/>
              <a:buChar char="●"/>
            </a:pPr>
            <a:r>
              <a:rPr lang="en" sz="1010"/>
              <a:t>Initialize a recursive function that will find the maze solution:</a:t>
            </a:r>
            <a:endParaRPr sz="1010"/>
          </a:p>
          <a:p>
            <a:pPr indent="-292735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10"/>
              <a:buChar char="●"/>
            </a:pPr>
            <a:r>
              <a:rPr lang="en" sz="1010"/>
              <a:t>Check if Solutions stack is </a:t>
            </a:r>
            <a:r>
              <a:rPr lang="en" sz="1010"/>
              <a:t>empty</a:t>
            </a:r>
            <a:r>
              <a:rPr lang="en" sz="1010"/>
              <a:t>. If True, print out “Solution path does not exist”. If False, goto Next.</a:t>
            </a:r>
            <a:endParaRPr sz="1010"/>
          </a:p>
          <a:p>
            <a:pPr indent="-292735" lvl="0" marL="9144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010"/>
              <a:buChar char="●"/>
            </a:pPr>
            <a:r>
              <a:rPr lang="en" sz="1010"/>
              <a:t>Check if current position is the End position. If True, print Solution Path Stack and return. If False, then goto Next.</a:t>
            </a:r>
            <a:endParaRPr sz="1010"/>
          </a:p>
          <a:p>
            <a:pPr indent="-292735" lvl="0" marL="4572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010"/>
              <a:buChar char="●"/>
            </a:pPr>
            <a:r>
              <a:rPr lang="en" sz="1010"/>
              <a:t>Check for next available position (Right, Down, Left, Up):</a:t>
            </a:r>
            <a:endParaRPr sz="1010"/>
          </a:p>
          <a:p>
            <a:pPr indent="-283844" lvl="1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870"/>
              <a:buChar char="○"/>
            </a:pPr>
            <a:r>
              <a:rPr lang="en" sz="870" u="sng"/>
              <a:t>Check Right direction (i+1,j)</a:t>
            </a:r>
            <a:r>
              <a:rPr lang="en" sz="870"/>
              <a:t>: If (i+1,j) is invalid or already in the stack, return False. If (i+1,j) is valid, return True and push ‘(i+1,j)’ into stack and exit. If False, then goto Next. </a:t>
            </a:r>
            <a:endParaRPr sz="870"/>
          </a:p>
          <a:p>
            <a:pPr indent="-283844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870"/>
              <a:buChar char="○"/>
            </a:pPr>
            <a:r>
              <a:rPr lang="en" sz="870" u="sng"/>
              <a:t>Check Down direction (i,j+1)</a:t>
            </a:r>
            <a:r>
              <a:rPr lang="en" sz="870"/>
              <a:t>: If (i,j+1) is invalid or already in the stack, return False. If (i,j+1) is valid, return True and push ‘(i,j+1)’ into stack and exit. If False, then goto Next.</a:t>
            </a:r>
            <a:endParaRPr sz="870"/>
          </a:p>
          <a:p>
            <a:pPr indent="-283844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870"/>
              <a:buChar char="○"/>
            </a:pPr>
            <a:r>
              <a:rPr lang="en" sz="870" u="sng"/>
              <a:t>Check Left direction (i-1,j)</a:t>
            </a:r>
            <a:r>
              <a:rPr lang="en" sz="870"/>
              <a:t>: If (i-1,j) is invalid or already in the stack, return False. If (i-1,j) is valid, return True and push ‘(i-1,j)’ into stack and exit. If False, then goto Next.</a:t>
            </a:r>
            <a:endParaRPr sz="870"/>
          </a:p>
          <a:p>
            <a:pPr indent="-283844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870"/>
              <a:buChar char="○"/>
            </a:pPr>
            <a:r>
              <a:rPr lang="en" sz="870" u="sng"/>
              <a:t>Check Up direction (i,j-1)</a:t>
            </a:r>
            <a:r>
              <a:rPr lang="en" sz="870"/>
              <a:t>: If (i,j-1) is invalid or already in the stack, return False. If (i,j-1) is valid, return True and push ‘(i,j-1)’ into stack and exit. If False,  then goto BACKTRACK.  </a:t>
            </a:r>
            <a:endParaRPr sz="870"/>
          </a:p>
          <a:p>
            <a:pPr indent="-283844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870"/>
              <a:buChar char="○"/>
            </a:pPr>
            <a:r>
              <a:rPr lang="en" sz="870" u="sng"/>
              <a:t>BACKTRACK:</a:t>
            </a:r>
            <a:r>
              <a:rPr lang="en" sz="870"/>
              <a:t> pop-off current position from Solutions stack, mark this position as in</a:t>
            </a:r>
            <a:r>
              <a:rPr lang="en" sz="870"/>
              <a:t>valid</a:t>
            </a:r>
            <a:r>
              <a:rPr lang="en" sz="870"/>
              <a:t> in Maze Matrix, </a:t>
            </a:r>
            <a:r>
              <a:rPr lang="en" sz="870"/>
              <a:t>and return to beginning of recursive function</a:t>
            </a:r>
            <a:endParaRPr sz="87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22">
                <a:solidFill>
                  <a:schemeClr val="accent5"/>
                </a:solidFill>
              </a:rPr>
              <a:t>OLD - </a:t>
            </a:r>
            <a:r>
              <a:rPr lang="en" sz="2622">
                <a:solidFill>
                  <a:schemeClr val="accent5"/>
                </a:solidFill>
              </a:rPr>
              <a:t>Illustration of ‘Next Available Position’ Recursion  (Right, Down, Left, Up) </a:t>
            </a:r>
            <a:endParaRPr sz="2622">
              <a:solidFill>
                <a:schemeClr val="accent5"/>
              </a:solidFill>
            </a:endParaRPr>
          </a:p>
        </p:txBody>
      </p:sp>
      <p:pic>
        <p:nvPicPr>
          <p:cNvPr id="240" name="Google Shape;24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400" y="1567550"/>
            <a:ext cx="4060601" cy="2812774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1071600" y="1887125"/>
            <a:ext cx="225900" cy="205800"/>
          </a:xfrm>
          <a:prstGeom prst="noSmoking">
            <a:avLst>
              <a:gd fmla="val 18750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7600" y="2151700"/>
            <a:ext cx="241952" cy="2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5005525" y="1475175"/>
            <a:ext cx="3835500" cy="29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3844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70"/>
              <a:buFont typeface="Lato"/>
              <a:buChar char="○"/>
            </a:pPr>
            <a:r>
              <a:rPr lang="en" sz="87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Check Right direction (i+1,j)</a:t>
            </a:r>
            <a:r>
              <a:rPr lang="en" sz="87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If (i+1,j) is invalid or already in the stack, return False. If (i+1,j) is valid, return True and push ‘(i+1,j)’ into stack and exit. If False, then goto Next. </a:t>
            </a:r>
            <a:endParaRPr sz="87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3844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70"/>
              <a:buFont typeface="Lato"/>
              <a:buChar char="○"/>
            </a:pPr>
            <a:r>
              <a:rPr lang="en" sz="87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Check Down direction (i,j+1)</a:t>
            </a:r>
            <a:r>
              <a:rPr lang="en" sz="87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If (i,j+1) is invalid or already in the stack, return False. If (i,j+1) is valid, return True and push ‘(i,j+1)’ into stack and exit. If False, then goto Next.</a:t>
            </a:r>
            <a:endParaRPr sz="87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3844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70"/>
              <a:buFont typeface="Lato"/>
              <a:buChar char="○"/>
            </a:pPr>
            <a:r>
              <a:rPr lang="en" sz="87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Check Left direction (i-1,j)</a:t>
            </a:r>
            <a:r>
              <a:rPr lang="en" sz="87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If (i-1,j) is invalid or already in the stack, return False. If (i-1,j) is valid, return True and push ‘(i-1,j)’ into stack and exit. If False, then goto Next.</a:t>
            </a:r>
            <a:endParaRPr sz="87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3844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70"/>
              <a:buFont typeface="Lato"/>
              <a:buChar char="○"/>
            </a:pPr>
            <a:r>
              <a:rPr lang="en" sz="87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Check Up direction (i,j-1)</a:t>
            </a:r>
            <a:r>
              <a:rPr lang="en" sz="87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If (i,j-1) is invalid or already in the stack, return False. If (i,j-1) is valid, return True and push ‘(i,j-1)’ into stack and exit. If False,  then goto BACKTRACK.  </a:t>
            </a:r>
            <a:endParaRPr sz="87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283844" lvl="1" marL="914400" rtl="0" algn="l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870"/>
              <a:buFont typeface="Lato"/>
              <a:buChar char="○"/>
            </a:pPr>
            <a:r>
              <a:rPr lang="en" sz="870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BACKTRACK:</a:t>
            </a:r>
            <a:r>
              <a:rPr lang="en" sz="87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pop-off current position from Solutions stack, mark this position as in</a:t>
            </a:r>
            <a:r>
              <a:rPr lang="en" sz="87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valid</a:t>
            </a:r>
            <a:r>
              <a:rPr lang="en" sz="87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in Maze Matrix, </a:t>
            </a:r>
            <a:r>
              <a:rPr lang="en" sz="87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and return to beginning of recursive function</a:t>
            </a:r>
            <a:endParaRPr sz="87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